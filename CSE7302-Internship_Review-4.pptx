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5.jpg" ContentType="image/jp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9" r:id="rId5"/>
    <p:sldId id="270" r:id="rId6"/>
    <p:sldId id="261" r:id="rId7"/>
    <p:sldId id="276" r:id="rId8"/>
    <p:sldId id="277" r:id="rId9"/>
    <p:sldId id="263" r:id="rId10"/>
    <p:sldId id="264" r:id="rId11"/>
    <p:sldId id="265" r:id="rId12"/>
    <p:sldId id="272" r:id="rId13"/>
    <p:sldId id="273" r:id="rId14"/>
    <p:sldId id="274" r:id="rId15"/>
    <p:sldId id="280" r:id="rId16"/>
    <p:sldId id="275" r:id="rId17"/>
    <p:sldId id="279" r:id="rId18"/>
    <p:sldId id="282" r:id="rId19"/>
    <p:sldId id="278" r:id="rId20"/>
    <p:sldId id="283" r:id="rId21"/>
    <p:sldId id="284" r:id="rId22"/>
    <p:sldId id="285" r:id="rId23"/>
    <p:sldId id="286" r:id="rId24"/>
    <p:sldId id="266" r:id="rId25"/>
    <p:sldId id="267" r:id="rId26"/>
    <p:sldId id="268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354264-FFD8-4C49-8D82-A3E05D6994B0}" v="4" dt="2026-04-05T15:55:22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641" autoAdjust="0"/>
  </p:normalViewPr>
  <p:slideViewPr>
    <p:cSldViewPr snapToGrid="0">
      <p:cViewPr varScale="1">
        <p:scale>
          <a:sx n="74" d="100"/>
          <a:sy n="74" d="100"/>
        </p:scale>
        <p:origin x="11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." userId="d8f3627a5b3cd2f3" providerId="LiveId" clId="{41FD427C-41EF-4983-A156-2805681391A4}"/>
    <pc:docChg chg="undo custSel modSld">
      <pc:chgData name="Muskan ." userId="d8f3627a5b3cd2f3" providerId="LiveId" clId="{41FD427C-41EF-4983-A156-2805681391A4}" dt="2026-04-05T16:06:00.115" v="129" actId="20577"/>
      <pc:docMkLst>
        <pc:docMk/>
      </pc:docMkLst>
      <pc:sldChg chg="modSp mod">
        <pc:chgData name="Muskan ." userId="d8f3627a5b3cd2f3" providerId="LiveId" clId="{41FD427C-41EF-4983-A156-2805681391A4}" dt="2026-04-05T16:06:00.115" v="129" actId="20577"/>
        <pc:sldMkLst>
          <pc:docMk/>
          <pc:sldMk cId="3066724582" sldId="259"/>
        </pc:sldMkLst>
        <pc:spChg chg="mod">
          <ac:chgData name="Muskan ." userId="d8f3627a5b3cd2f3" providerId="LiveId" clId="{41FD427C-41EF-4983-A156-2805681391A4}" dt="2026-04-05T16:05:17.671" v="106" actId="20577"/>
          <ac:spMkLst>
            <pc:docMk/>
            <pc:sldMk cId="3066724582" sldId="259"/>
            <ac:spMk id="9" creationId="{00000000-0000-0000-0000-000000000000}"/>
          </ac:spMkLst>
        </pc:spChg>
        <pc:spChg chg="mod">
          <ac:chgData name="Muskan ." userId="d8f3627a5b3cd2f3" providerId="LiveId" clId="{41FD427C-41EF-4983-A156-2805681391A4}" dt="2026-04-05T16:06:00.115" v="129" actId="20577"/>
          <ac:spMkLst>
            <pc:docMk/>
            <pc:sldMk cId="3066724582" sldId="259"/>
            <ac:spMk id="90" creationId="{00000000-0000-0000-0000-000000000000}"/>
          </ac:spMkLst>
        </pc:spChg>
      </pc:sldChg>
      <pc:sldChg chg="modSp mod">
        <pc:chgData name="Muskan ." userId="d8f3627a5b3cd2f3" providerId="LiveId" clId="{41FD427C-41EF-4983-A156-2805681391A4}" dt="2026-04-05T15:55:27.747" v="104" actId="113"/>
        <pc:sldMkLst>
          <pc:docMk/>
          <pc:sldMk cId="1900002131" sldId="286"/>
        </pc:sldMkLst>
        <pc:spChg chg="mod">
          <ac:chgData name="Muskan ." userId="d8f3627a5b3cd2f3" providerId="LiveId" clId="{41FD427C-41EF-4983-A156-2805681391A4}" dt="2026-04-05T15:55:27.747" v="104" actId="113"/>
          <ac:spMkLst>
            <pc:docMk/>
            <pc:sldMk cId="1900002131" sldId="286"/>
            <ac:spMk id="3" creationId="{02F064DA-F851-7879-2B43-D0D47256D96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IN" dirty="0"/>
            <a:t>Understanding AI modules and system integration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200" spc="-10" dirty="0">
              <a:latin typeface="Calibri"/>
              <a:cs typeface="Calibri"/>
            </a:rPr>
            <a:t>Interactive dashboard development, slicers,</a:t>
          </a:r>
          <a:r>
            <a:rPr lang="en-US" sz="1200" spc="-35" dirty="0">
              <a:latin typeface="Calibri"/>
              <a:cs typeface="Calibri"/>
            </a:rPr>
            <a:t> </a:t>
          </a:r>
          <a:r>
            <a:rPr lang="en-US" sz="1200" spc="-10" dirty="0">
              <a:latin typeface="Calibri"/>
              <a:cs typeface="Calibri"/>
            </a:rPr>
            <a:t>drill-through analysis,</a:t>
          </a:r>
          <a:r>
            <a:rPr lang="en-US" sz="1200" dirty="0">
              <a:latin typeface="Calibri"/>
              <a:cs typeface="Calibri"/>
            </a:rPr>
            <a:t> </a:t>
          </a:r>
          <a:r>
            <a:rPr lang="en-US" sz="1200" spc="-25" dirty="0">
              <a:latin typeface="Calibri"/>
              <a:cs typeface="Calibri"/>
            </a:rPr>
            <a:t>and </a:t>
          </a:r>
          <a:r>
            <a:rPr lang="en-US" sz="1200" spc="-10" dirty="0">
              <a:latin typeface="Calibri"/>
              <a:cs typeface="Calibri"/>
            </a:rPr>
            <a:t>recruitment performance</a:t>
          </a:r>
        </a:p>
        <a:p>
          <a:r>
            <a:rPr lang="en-IN" sz="1200" spc="-10" dirty="0">
              <a:latin typeface="Calibri"/>
              <a:cs typeface="Calibri"/>
            </a:rPr>
            <a:t>Insights</a:t>
          </a:r>
        </a:p>
        <a:p>
          <a:r>
            <a:rPr lang="en-IN" sz="1200" spc="-10" dirty="0">
              <a:latin typeface="Calibri"/>
              <a:cs typeface="Calibri"/>
            </a:rPr>
            <a:t>generation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DCD0AAEA-5D36-454D-BB20-D82E296CEAA2}">
      <dgm:prSet/>
      <dgm:spPr/>
      <dgm:t>
        <a:bodyPr/>
        <a:lstStyle/>
        <a:p>
          <a:r>
            <a:rPr lang="en-IN" dirty="0"/>
            <a:t>System Testing and bug identification</a:t>
          </a:r>
        </a:p>
      </dgm:t>
    </dgm:pt>
    <dgm:pt modelId="{2DC2B755-1245-4C1B-BA7B-E970C4FD117F}" type="sibTrans" cxnId="{D79D4276-96AB-47A7-8232-7A05329E867C}">
      <dgm:prSet/>
      <dgm:spPr/>
      <dgm:t>
        <a:bodyPr/>
        <a:lstStyle/>
        <a:p>
          <a:endParaRPr lang="en-IN"/>
        </a:p>
      </dgm:t>
    </dgm:pt>
    <dgm:pt modelId="{50E3357C-630B-4ACB-8642-EBA821165104}" type="parTrans" cxnId="{D79D4276-96AB-47A7-8232-7A05329E867C}">
      <dgm:prSet/>
      <dgm:spPr/>
      <dgm:t>
        <a:bodyPr/>
        <a:lstStyle/>
        <a:p>
          <a:endParaRPr lang="en-IN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1B18514-99AD-4E15-AE2D-280783EC7182}" type="presOf" srcId="{73DB572E-062D-41AD-8033-D361B8E583DB}" destId="{0D08ED52-6744-4369-B780-916B09984775}" srcOrd="0" destOrd="0" presId="urn:microsoft.com/office/officeart/2011/layout/InterconnectedBlockProcess"/>
    <dgm:cxn modelId="{4153B51E-1E0D-4B22-96F1-1334D47C20B8}" type="presOf" srcId="{988D96B0-D16E-4763-B393-84178CF4FF50}" destId="{65257024-FAC0-4522-B139-1CC85B547BE8}" srcOrd="0" destOrd="0" presId="urn:microsoft.com/office/officeart/2011/layout/InterconnectedBlockProcess"/>
    <dgm:cxn modelId="{6415BC4B-62AF-4D86-BAB9-81A2610B003C}" type="presOf" srcId="{DCD0AAEA-5D36-454D-BB20-D82E296CEAA2}" destId="{FC0F1314-3294-4A8C-8DCE-EB53E236164C}" srcOrd="0" destOrd="0" presId="urn:microsoft.com/office/officeart/2011/layout/InterconnectedBlockProcess"/>
    <dgm:cxn modelId="{25C60050-01C2-4578-8E9D-736915015AD2}" type="presOf" srcId="{9FED87C4-3F3B-4A18-9185-9F80CFEDEA2E}" destId="{6BCCFBA6-7A43-4631-AD7F-AFB10E1E6CD7}" srcOrd="0" destOrd="0" presId="urn:microsoft.com/office/officeart/2011/layout/InterconnectedBlockProcess"/>
    <dgm:cxn modelId="{D79D4276-96AB-47A7-8232-7A05329E867C}" srcId="{5E92505A-51E0-4F78-B3C5-704ACF8710DE}" destId="{DCD0AAEA-5D36-454D-BB20-D82E296CEAA2}" srcOrd="0" destOrd="0" parTransId="{50E3357C-630B-4ACB-8642-EBA821165104}" sibTransId="{2DC2B755-1245-4C1B-BA7B-E970C4FD117F}"/>
    <dgm:cxn modelId="{9754C476-F376-4150-AE17-1F68A377E646}" type="presOf" srcId="{9FED87C4-3F3B-4A18-9185-9F80CFEDEA2E}" destId="{06F8D57B-EDF4-4CF4-8700-DC2CA3E3028E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F45478E-19CF-4D94-9FB0-2DF505851E5D}" type="presOf" srcId="{5E92505A-51E0-4F78-B3C5-704ACF8710DE}" destId="{2AAD338D-3122-4454-9A67-16BE024D44E3}" srcOrd="0" destOrd="0" presId="urn:microsoft.com/office/officeart/2011/layout/InterconnectedBlockProcess"/>
    <dgm:cxn modelId="{A7EEA391-6BDB-4B3B-8C62-6F1197C56889}" type="presOf" srcId="{D471E45F-B026-44AA-9616-57E786AE80AF}" destId="{A134CDD1-D85F-44EF-8BEE-9F99A855C1E6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26D8895-C0EC-4975-9767-91C079F1747E}" type="presOf" srcId="{DCD0AAEA-5D36-454D-BB20-D82E296CEAA2}" destId="{98225A61-A0EC-450A-BED8-EF2E47E8FD18}" srcOrd="1" destOrd="0" presId="urn:microsoft.com/office/officeart/2011/layout/InterconnectedBlockProcess"/>
    <dgm:cxn modelId="{418792AA-461A-4B30-A077-AC9397CC55BC}" type="presOf" srcId="{65C051F6-A849-4495-A964-CD4C650B9C06}" destId="{C73DE52A-2F45-45E6-AD0E-D5BEAF609F8E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D6F38C0-324F-4732-B07C-E35292096FDF}" type="presOf" srcId="{7B3055AA-BF7C-46D0-9A9E-60087B9F57B4}" destId="{00BB3360-A9BB-4051-A4B1-1216F82F642C}" srcOrd="0" destOrd="0" presId="urn:microsoft.com/office/officeart/2011/layout/InterconnectedBlockProcess"/>
    <dgm:cxn modelId="{1F6447C4-A524-42CF-9B68-6FD861F08DDC}" type="presOf" srcId="{A59EC69B-8F3F-425B-819F-E8C557946AEE}" destId="{4C66D42D-7E6D-4563-AFDC-369C30B73F70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4F0B8CD5-4DF2-4C7F-8A56-09287A21FEAC}" type="presOf" srcId="{D471E45F-B026-44AA-9616-57E786AE80AF}" destId="{1C91D7E3-8940-4A33-9182-677DD5415901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AA784FA-1377-4A86-B39D-EF1CADA37615}" type="presOf" srcId="{73DB572E-062D-41AD-8033-D361B8E583DB}" destId="{2532504F-5FE1-4C97-B485-F05E8885EACC}" srcOrd="1" destOrd="0" presId="urn:microsoft.com/office/officeart/2011/layout/InterconnectedBlockProcess"/>
    <dgm:cxn modelId="{9A4228F0-476C-40CF-A0E1-EEDEFE717859}" type="presParOf" srcId="{A6BCDA7B-D633-438F-B44D-CB4D60E5C492}" destId="{0EA92EC0-9C6F-4663-B822-B1E8E3DCB13B}" srcOrd="0" destOrd="0" presId="urn:microsoft.com/office/officeart/2011/layout/InterconnectedBlockProcess"/>
    <dgm:cxn modelId="{41D55132-1C99-4A7C-8433-B4A617CAF157}" type="presParOf" srcId="{0EA92EC0-9C6F-4663-B822-B1E8E3DCB13B}" destId="{8CAE5A4D-0C7B-48A6-917B-0B8433D0574B}" srcOrd="0" destOrd="0" presId="urn:microsoft.com/office/officeart/2011/layout/InterconnectedBlockProcess"/>
    <dgm:cxn modelId="{A6445758-423A-4E2F-AD2A-A9C7C88BF998}" type="presParOf" srcId="{A6BCDA7B-D633-438F-B44D-CB4D60E5C492}" destId="{928B615F-0F8D-4140-A638-0FBB8F5BF1E9}" srcOrd="1" destOrd="0" presId="urn:microsoft.com/office/officeart/2011/layout/InterconnectedBlockProcess"/>
    <dgm:cxn modelId="{6B241471-56BE-4DFC-BA3F-6E2AB0BB34FB}" type="presParOf" srcId="{A6BCDA7B-D633-438F-B44D-CB4D60E5C492}" destId="{C73DE52A-2F45-45E6-AD0E-D5BEAF609F8E}" srcOrd="2" destOrd="0" presId="urn:microsoft.com/office/officeart/2011/layout/InterconnectedBlockProcess"/>
    <dgm:cxn modelId="{2338A86C-9568-442F-812C-8A512704BAFE}" type="presParOf" srcId="{A6BCDA7B-D633-438F-B44D-CB4D60E5C492}" destId="{EA3B7F60-AEEC-41A8-8A2C-D3679EFCD073}" srcOrd="3" destOrd="0" presId="urn:microsoft.com/office/officeart/2011/layout/InterconnectedBlockProcess"/>
    <dgm:cxn modelId="{0F418593-BA94-42A7-8530-F9147B82C40B}" type="presParOf" srcId="{EA3B7F60-AEEC-41A8-8A2C-D3679EFCD073}" destId="{FC0F1314-3294-4A8C-8DCE-EB53E236164C}" srcOrd="0" destOrd="0" presId="urn:microsoft.com/office/officeart/2011/layout/InterconnectedBlockProcess"/>
    <dgm:cxn modelId="{A74A0F16-8E63-47FD-B70C-02EB2318B008}" type="presParOf" srcId="{A6BCDA7B-D633-438F-B44D-CB4D60E5C492}" destId="{98225A61-A0EC-450A-BED8-EF2E47E8FD18}" srcOrd="4" destOrd="0" presId="urn:microsoft.com/office/officeart/2011/layout/InterconnectedBlockProcess"/>
    <dgm:cxn modelId="{AB3BA114-0410-45A4-9C8B-BD9C2EF9D99B}" type="presParOf" srcId="{A6BCDA7B-D633-438F-B44D-CB4D60E5C492}" destId="{2AAD338D-3122-4454-9A67-16BE024D44E3}" srcOrd="5" destOrd="0" presId="urn:microsoft.com/office/officeart/2011/layout/InterconnectedBlockProcess"/>
    <dgm:cxn modelId="{DA40FD16-1881-4286-A0F0-F971E682F94E}" type="presParOf" srcId="{A6BCDA7B-D633-438F-B44D-CB4D60E5C492}" destId="{96AFCF47-32CA-4C44-9E3C-782007B7112E}" srcOrd="6" destOrd="0" presId="urn:microsoft.com/office/officeart/2011/layout/InterconnectedBlockProcess"/>
    <dgm:cxn modelId="{4C7740DA-820C-4176-AD4C-9CAB2C1CAB31}" type="presParOf" srcId="{96AFCF47-32CA-4C44-9E3C-782007B7112E}" destId="{2532504F-5FE1-4C97-B485-F05E8885EACC}" srcOrd="0" destOrd="0" presId="urn:microsoft.com/office/officeart/2011/layout/InterconnectedBlockProcess"/>
    <dgm:cxn modelId="{68EAE32F-C848-4A09-AA95-1251A05D3645}" type="presParOf" srcId="{A6BCDA7B-D633-438F-B44D-CB4D60E5C492}" destId="{0D08ED52-6744-4369-B780-916B09984775}" srcOrd="7" destOrd="0" presId="urn:microsoft.com/office/officeart/2011/layout/InterconnectedBlockProcess"/>
    <dgm:cxn modelId="{50CFE418-A0D6-4EBE-A30F-8BB8F8957EF7}" type="presParOf" srcId="{A6BCDA7B-D633-438F-B44D-CB4D60E5C492}" destId="{4C66D42D-7E6D-4563-AFDC-369C30B73F70}" srcOrd="8" destOrd="0" presId="urn:microsoft.com/office/officeart/2011/layout/InterconnectedBlockProcess"/>
    <dgm:cxn modelId="{C10AD706-9939-4F20-9397-24173B87EA98}" type="presParOf" srcId="{A6BCDA7B-D633-438F-B44D-CB4D60E5C492}" destId="{C1269CE6-C767-48CC-AAFD-A238D1FFDABA}" srcOrd="9" destOrd="0" presId="urn:microsoft.com/office/officeart/2011/layout/InterconnectedBlockProcess"/>
    <dgm:cxn modelId="{D4A484FE-CE4B-4AED-8F59-402D0F2CE0AA}" type="presParOf" srcId="{C1269CE6-C767-48CC-AAFD-A238D1FFDABA}" destId="{06F8D57B-EDF4-4CF4-8700-DC2CA3E3028E}" srcOrd="0" destOrd="0" presId="urn:microsoft.com/office/officeart/2011/layout/InterconnectedBlockProcess"/>
    <dgm:cxn modelId="{2F80279F-21FF-4858-A25D-A7574AC0DBCC}" type="presParOf" srcId="{A6BCDA7B-D633-438F-B44D-CB4D60E5C492}" destId="{6BCCFBA6-7A43-4631-AD7F-AFB10E1E6CD7}" srcOrd="10" destOrd="0" presId="urn:microsoft.com/office/officeart/2011/layout/InterconnectedBlockProcess"/>
    <dgm:cxn modelId="{6B40EA62-9349-4D63-AD90-CD1595CAF5FF}" type="presParOf" srcId="{A6BCDA7B-D633-438F-B44D-CB4D60E5C492}" destId="{00BB3360-A9BB-4051-A4B1-1216F82F642C}" srcOrd="11" destOrd="0" presId="urn:microsoft.com/office/officeart/2011/layout/InterconnectedBlockProcess"/>
    <dgm:cxn modelId="{7E0EB3D8-B005-46A3-83E3-4BED274E79F0}" type="presParOf" srcId="{A6BCDA7B-D633-438F-B44D-CB4D60E5C492}" destId="{7305DF14-0FF5-45E4-8B19-015814092DBD}" srcOrd="12" destOrd="0" presId="urn:microsoft.com/office/officeart/2011/layout/InterconnectedBlockProcess"/>
    <dgm:cxn modelId="{A6F1018C-4455-4126-88BF-1BDE3C7D6439}" type="presParOf" srcId="{7305DF14-0FF5-45E4-8B19-015814092DBD}" destId="{A134CDD1-D85F-44EF-8BEE-9F99A855C1E6}" srcOrd="0" destOrd="0" presId="urn:microsoft.com/office/officeart/2011/layout/InterconnectedBlockProcess"/>
    <dgm:cxn modelId="{10B72535-C760-4D6D-880F-F7B8BFEDBDD4}" type="presParOf" srcId="{A6BCDA7B-D633-438F-B44D-CB4D60E5C492}" destId="{1C91D7E3-8940-4A33-9182-677DD5415901}" srcOrd="13" destOrd="0" presId="urn:microsoft.com/office/officeart/2011/layout/InterconnectedBlockProcess"/>
    <dgm:cxn modelId="{EA1EA501-28A4-4629-86A6-5A81B1B4B245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System Testing and bug identification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spc="-10" dirty="0">
              <a:latin typeface="Calibri"/>
              <a:cs typeface="Calibri"/>
            </a:rPr>
            <a:t>Interactive dashboard development, slicers,</a:t>
          </a:r>
          <a:r>
            <a:rPr lang="en-US" sz="1200" kern="1200" spc="-35" dirty="0">
              <a:latin typeface="Calibri"/>
              <a:cs typeface="Calibri"/>
            </a:rPr>
            <a:t> </a:t>
          </a:r>
          <a:r>
            <a:rPr lang="en-US" sz="1200" kern="1200" spc="-10" dirty="0">
              <a:latin typeface="Calibri"/>
              <a:cs typeface="Calibri"/>
            </a:rPr>
            <a:t>drill-through analysis,</a:t>
          </a:r>
          <a:r>
            <a:rPr lang="en-US" sz="1200" kern="1200" dirty="0">
              <a:latin typeface="Calibri"/>
              <a:cs typeface="Calibri"/>
            </a:rPr>
            <a:t> </a:t>
          </a:r>
          <a:r>
            <a:rPr lang="en-US" sz="1200" kern="1200" spc="-25" dirty="0">
              <a:latin typeface="Calibri"/>
              <a:cs typeface="Calibri"/>
            </a:rPr>
            <a:t>and </a:t>
          </a:r>
          <a:r>
            <a:rPr lang="en-US" sz="1200" kern="1200" spc="-10" dirty="0">
              <a:latin typeface="Calibri"/>
              <a:cs typeface="Calibri"/>
            </a:rPr>
            <a:t>recruitment performance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spc="-10" dirty="0">
              <a:latin typeface="Calibri"/>
              <a:cs typeface="Calibri"/>
            </a:rPr>
            <a:t>Insights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spc="-10" dirty="0">
              <a:latin typeface="Calibri"/>
              <a:cs typeface="Calibri"/>
            </a:rPr>
            <a:t>generation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Understanding AI modules and system integration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skan200419/INTERNSHIP-TalentRecruit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Guide: MS. Battula Bhavya,</a:t>
            </a: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Reviewer: Mr. Abhishek M</a:t>
            </a: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Professor, </a:t>
            </a: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3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Gopal Krishna Shyam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Mr. Sreehari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 AT TALENTRECRUIT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6897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MUSKAN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911" y="1045030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dirty="0"/>
              <a:t>One of its key highlights is </a:t>
            </a:r>
            <a:r>
              <a:rPr lang="en-US" b="1" dirty="0"/>
              <a:t>ERIKA – the 24×7 Robotic Recruiter</a:t>
            </a:r>
            <a:r>
              <a:rPr lang="en-US" dirty="0"/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dirty="0"/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F0513-9C18-A032-09FC-F87747C2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26834E-B58E-0354-6379-E7D58E68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2C4BF-970B-FEE8-518D-BF1AA67BE887}"/>
              </a:ext>
            </a:extLst>
          </p:cNvPr>
          <p:cNvSpPr txBox="1"/>
          <p:nvPr/>
        </p:nvSpPr>
        <p:spPr>
          <a:xfrm>
            <a:off x="466531" y="354563"/>
            <a:ext cx="6792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0070C0"/>
                </a:solidFill>
              </a:rPr>
              <a:t>Our Clients</a:t>
            </a:r>
            <a:endParaRPr lang="en-IN" sz="4800" dirty="0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D21B53EA-D4C0-1590-335A-1BF9B4DC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93" y="1253331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5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5106B-15AA-4668-A9F0-B8AA1C52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80746-87B3-5E60-D79A-919F8743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03385-3998-95F0-6A7B-835A861C251C}"/>
              </a:ext>
            </a:extLst>
          </p:cNvPr>
          <p:cNvSpPr txBox="1"/>
          <p:nvPr/>
        </p:nvSpPr>
        <p:spPr>
          <a:xfrm>
            <a:off x="466531" y="307910"/>
            <a:ext cx="10114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5DC99-4892-EA75-2096-14B7AE48E633}"/>
              </a:ext>
            </a:extLst>
          </p:cNvPr>
          <p:cNvSpPr txBox="1"/>
          <p:nvPr/>
        </p:nvSpPr>
        <p:spPr>
          <a:xfrm>
            <a:off x="466531" y="1073019"/>
            <a:ext cx="86798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2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Team Structure, Project, Reporting &amp; Technology Understanding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Our team consists of 9 members, guided by our Reporting Manager, </a:t>
            </a:r>
            <a:r>
              <a:rPr lang="en-US" altLang="en-US" b="1" dirty="0">
                <a:latin typeface="Arial" panose="020B0604020202020204" pitchFamily="34" charset="0"/>
              </a:rPr>
              <a:t>Mr. Ashish Medidata	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Currently, we are in the training phase on the company’s </a:t>
            </a:r>
            <a:r>
              <a:rPr lang="en-US" altLang="en-US" b="1" dirty="0">
                <a:latin typeface="Arial" panose="020B0604020202020204" pitchFamily="34" charset="0"/>
              </a:rPr>
              <a:t>ATS (Applicant Tracking System) product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We are learning how each technology supports the recruitment process: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Technology Understanding: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AI &amp; ML:</a:t>
            </a:r>
            <a:r>
              <a:rPr lang="en-US" altLang="en-US" dirty="0">
                <a:latin typeface="Arial" panose="020B0604020202020204" pitchFamily="34" charset="0"/>
              </a:rPr>
              <a:t> Helps in resume screening and candidate ranking.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NLP:</a:t>
            </a:r>
            <a:r>
              <a:rPr lang="en-US" altLang="en-US" dirty="0">
                <a:latin typeface="Arial" panose="020B0604020202020204" pitchFamily="34" charset="0"/>
              </a:rPr>
              <a:t> Enables chatbot communication and candidate interaction.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ATS Workflow:</a:t>
            </a:r>
            <a:r>
              <a:rPr lang="en-US" altLang="en-US" dirty="0">
                <a:latin typeface="Arial" panose="020B0604020202020204" pitchFamily="34" charset="0"/>
              </a:rPr>
              <a:t> Helps track candidates across hiring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Databases:</a:t>
            </a:r>
            <a:r>
              <a:rPr lang="en-US" altLang="en-US" dirty="0">
                <a:latin typeface="Arial" panose="020B0604020202020204" pitchFamily="34" charset="0"/>
              </a:rPr>
              <a:t> Store and manage candidate and job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APIs:</a:t>
            </a:r>
            <a:r>
              <a:rPr lang="en-US" altLang="en-US" dirty="0">
                <a:latin typeface="Arial" panose="020B0604020202020204" pitchFamily="34" charset="0"/>
              </a:rPr>
              <a:t> Integrate job portals and communication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Dashboards &amp; Analytics:</a:t>
            </a:r>
            <a:r>
              <a:rPr lang="en-US" altLang="en-US" dirty="0">
                <a:latin typeface="Arial" panose="020B0604020202020204" pitchFamily="34" charset="0"/>
              </a:rPr>
              <a:t> Provide recruitment performance insights.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training helps us understand how technology solves real recruitment challenges.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After training, we will be assigned to live projects for practical client exposure.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I was selected through my college campus placement process. Clearing the interview with the company’s Director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lang="en-US" altLang="en-US" sz="6000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understand ATS system architecture and recruitment workflows.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support AI-based resume parsing and candidate shortlisting processes.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assist in database validation and candidate data management.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ensure accurate workflow automation across hiring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support API-based integrations with job portals and communication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analyze recruitment dashboards and system reports.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help in identifying and resolving basic system-level issues.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improve overall system efficiency and data consistency.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AI-powered Applicant Tracking System</a:t>
            </a:r>
          </a:p>
          <a:p>
            <a:pPr lvl="1"/>
            <a:r>
              <a:rPr lang="en-US" dirty="0"/>
              <a:t>Automated resume screening and candidate ranking</a:t>
            </a:r>
          </a:p>
          <a:p>
            <a:pPr lvl="1"/>
            <a:r>
              <a:rPr lang="en-US" dirty="0"/>
              <a:t>Chatbot-based candidate engagement (ERIKA)</a:t>
            </a:r>
          </a:p>
          <a:p>
            <a:pPr lvl="1"/>
            <a:r>
              <a:rPr lang="en-US" dirty="0"/>
              <a:t>Centralized recruitment workflow management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sync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of Talent Recruit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Web-based ATS platform</a:t>
            </a:r>
          </a:p>
          <a:p>
            <a:pPr lvl="1"/>
            <a:r>
              <a:rPr lang="en-US" dirty="0"/>
              <a:t>Cloud infrastructure</a:t>
            </a:r>
          </a:p>
          <a:p>
            <a:pPr lvl="1"/>
            <a:r>
              <a:rPr lang="en-US" dirty="0"/>
              <a:t>Database for candidate and job data</a:t>
            </a:r>
          </a:p>
          <a:p>
            <a:pPr lvl="1"/>
            <a:r>
              <a:rPr lang="en-US" dirty="0"/>
              <a:t>API integrations with job portals and communication tools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FC79C-A3F8-33A1-2D03-D161DD44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2EF17-FFCB-3AA2-1D62-B0B9AFD7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12</a:t>
            </a:fld>
            <a:endParaRPr lang="en-IN" dirty="0"/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id="{F63F632D-C9B3-4A65-D746-DE41F93305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D98D4-A66B-754D-4898-3F2BFD55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36526"/>
            <a:ext cx="8603226" cy="564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6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Reduces manual effort in recruitment</a:t>
            </a:r>
          </a:p>
          <a:p>
            <a:pPr lvl="1"/>
            <a:r>
              <a:rPr lang="en-US" dirty="0"/>
              <a:t>Improves hiring accuracy and speed</a:t>
            </a:r>
          </a:p>
          <a:p>
            <a:pPr lvl="1"/>
            <a:r>
              <a:rPr lang="en-US" dirty="0"/>
              <a:t>Enhances candidate experience</a:t>
            </a:r>
          </a:p>
          <a:p>
            <a:pPr lvl="1"/>
            <a:r>
              <a:rPr lang="en-US" dirty="0"/>
              <a:t>Supports data-driven hiring decisions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302AE-BE0B-CA88-67DA-54578584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9CAE1-BB33-FF52-87F9-2F354D12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14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FDE87-4025-D028-EFA7-F4CF3A26C366}"/>
              </a:ext>
            </a:extLst>
          </p:cNvPr>
          <p:cNvSpPr txBox="1"/>
          <p:nvPr/>
        </p:nvSpPr>
        <p:spPr>
          <a:xfrm>
            <a:off x="100289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FE66D-719C-7212-DA43-162B7FACE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782856"/>
            <a:ext cx="10186219" cy="50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33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67736-13F8-B561-ECDF-DC03B0D2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B9069-7EB2-46E1-12C6-AAD3E4C3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15</a:t>
            </a:fld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6DCFC31-1DE4-0DFB-AA10-FB92C6DD388D}"/>
              </a:ext>
            </a:extLst>
          </p:cNvPr>
          <p:cNvPicPr/>
          <p:nvPr/>
        </p:nvPicPr>
        <p:blipFill>
          <a:blip r:embed="rId2" cstate="print"/>
          <a:srcRect l="1669" t="6857" r="2970" b="10864"/>
          <a:stretch>
            <a:fillRect/>
          </a:stretch>
        </p:blipFill>
        <p:spPr>
          <a:xfrm>
            <a:off x="678426" y="136525"/>
            <a:ext cx="10675374" cy="5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35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FE675-8216-2126-DADC-8AE38765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05-04-2026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E125AE-681B-4AD8-5B89-F97871A6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16</a:t>
            </a:fld>
            <a:endParaRPr lang="en-IN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443FA441-F95B-191D-50C0-D93629F0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7" b="17890"/>
          <a:stretch>
            <a:fillRect/>
          </a:stretch>
        </p:blipFill>
        <p:spPr>
          <a:xfrm>
            <a:off x="0" y="516617"/>
            <a:ext cx="12192000" cy="6341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354540-5A9A-681F-0E57-727DDE2B0EE9}"/>
              </a:ext>
            </a:extLst>
          </p:cNvPr>
          <p:cNvSpPr txBox="1"/>
          <p:nvPr/>
        </p:nvSpPr>
        <p:spPr>
          <a:xfrm>
            <a:off x="491613" y="-68158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05972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E00C-6425-07F3-DAEE-6DD2623D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27" y="136525"/>
            <a:ext cx="10093037" cy="66357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236E4-DD41-12D8-E076-BE86E885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11091-B4DF-19CE-F505-4BF77866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pic>
        <p:nvPicPr>
          <p:cNvPr id="1026" name="Picture 2" descr="CRM Applicant Tracking Systems: The Future of Talent Acquisition: galihrkeinan">
            <a:extLst>
              <a:ext uri="{FF2B5EF4-FFF2-40B4-BE49-F238E27FC236}">
                <a16:creationId xmlns:a16="http://schemas.microsoft.com/office/drawing/2014/main" id="{1B90A0C2-B674-8D17-8157-B4B025F8A1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122" y="800100"/>
            <a:ext cx="4988478" cy="498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268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7499-8268-A0F1-F946-2E1862D8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364B-1AB0-1E33-4644-32A36EB25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20783"/>
            <a:ext cx="10093037" cy="66357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C8249-2468-1D11-1E09-B5A3178F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00354-D22D-00A5-A1B0-580443A8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2052" name="Picture 4" descr="End To End Recruitment Process Flowchart in Illustrator, PDF - Download | Template.net">
            <a:extLst>
              <a:ext uri="{FF2B5EF4-FFF2-40B4-BE49-F238E27FC236}">
                <a16:creationId xmlns:a16="http://schemas.microsoft.com/office/drawing/2014/main" id="{72FD6B13-37E9-39E5-A43B-528F9539A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554" y="684358"/>
            <a:ext cx="3662810" cy="516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17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A80C-2222-D203-BF95-33F1C420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1A6D-2DCB-49F5-8BE7-00F84820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20783"/>
            <a:ext cx="10093037" cy="66357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B791B-0A00-76B6-E9A2-15145B7C6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51241-190D-B44F-B632-815BF4EF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3074" name="Picture 2" descr="What is Debugging in Software Engineering? - GeeksforGeeks">
            <a:extLst>
              <a:ext uri="{FF2B5EF4-FFF2-40B4-BE49-F238E27FC236}">
                <a16:creationId xmlns:a16="http://schemas.microsoft.com/office/drawing/2014/main" id="{1E5884E8-F6D8-862D-665A-6B60FB625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695" y="758538"/>
            <a:ext cx="7075151" cy="506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718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8846-2C8E-A4B0-37C9-4EA5B2A7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91" y="360361"/>
            <a:ext cx="9646227" cy="720294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64DA-F851-7879-2B43-D0D47256D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291" y="1253331"/>
            <a:ext cx="10515600" cy="4351338"/>
          </a:xfrm>
        </p:spPr>
        <p:txBody>
          <a:bodyPr/>
          <a:lstStyle/>
          <a:p>
            <a:r>
              <a:rPr lang="en-US" dirty="0"/>
              <a:t>The internship helped you gain practical exposure as a Client Success Intern</a:t>
            </a:r>
          </a:p>
          <a:p>
            <a:r>
              <a:rPr lang="en-US" dirty="0"/>
              <a:t>Got to learn real-world skills like teamwork, communication, and problem-solving.</a:t>
            </a:r>
          </a:p>
          <a:p>
            <a:r>
              <a:rPr lang="en-US" dirty="0"/>
              <a:t>The system(</a:t>
            </a:r>
            <a:r>
              <a:rPr lang="en-US" dirty="0" err="1"/>
              <a:t>TalentRecruit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has clear advantages and can be useful in real scenarios.</a:t>
            </a:r>
          </a:p>
          <a:p>
            <a:r>
              <a:rPr lang="en-US" dirty="0"/>
              <a:t>Challenges faced during the internship helped in personal and professional growth.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AA147-3152-5738-3740-1AA1EC2F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A2A91-79BE-EC76-F0EC-CB4F0F5C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002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358079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https://github.com/muskan200419/INTERNSHIP-TalentRecruit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F7FDB646AF7E4A9AF564A66AA93CEA" ma:contentTypeVersion="11" ma:contentTypeDescription="Create a new document." ma:contentTypeScope="" ma:versionID="7d990ce308215aedc121eef5082344a9">
  <xsd:schema xmlns:xsd="http://www.w3.org/2001/XMLSchema" xmlns:xs="http://www.w3.org/2001/XMLSchema" xmlns:p="http://schemas.microsoft.com/office/2006/metadata/properties" xmlns:ns2="7313f609-82c0-4c11-91b9-f1599af905dc" xmlns:ns3="84df51cb-0e6e-4a76-ada5-86f38b004840" targetNamespace="http://schemas.microsoft.com/office/2006/metadata/properties" ma:root="true" ma:fieldsID="2d5e0f600591247dd511b960ca44dc08" ns2:_="" ns3:_="">
    <xsd:import namespace="7313f609-82c0-4c11-91b9-f1599af905dc"/>
    <xsd:import namespace="84df51cb-0e6e-4a76-ada5-86f38b00484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3f609-82c0-4c11-91b9-f1599af905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df51cb-0e6e-4a76-ada5-86f38b00484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b7ebfaa-f4df-4b9f-8209-5d53b352e21f}" ma:internalName="TaxCatchAll" ma:showField="CatchAllData" ma:web="84df51cb-0e6e-4a76-ada5-86f38b004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df51cb-0e6e-4a76-ada5-86f38b004840" xsi:nil="true"/>
    <lcf76f155ced4ddcb4097134ff3c332f xmlns="7313f609-82c0-4c11-91b9-f1599af905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0A14481-4B1F-4638-B6DD-DBE2D7CE9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13f609-82c0-4c11-91b9-f1599af905dc"/>
    <ds:schemaRef ds:uri="84df51cb-0e6e-4a76-ada5-86f38b0048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0D1C32-24DF-4FFC-916E-9FFA3FC092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91C1CE-0D21-489F-9986-BFEB1CC48F19}">
  <ds:schemaRefs>
    <ds:schemaRef ds:uri="http://schemas.microsoft.com/office/2006/metadata/properties"/>
    <ds:schemaRef ds:uri="http://schemas.microsoft.com/office/infopath/2007/PartnerControls"/>
    <ds:schemaRef ds:uri="84df51cb-0e6e-4a76-ada5-86f38b004840"/>
    <ds:schemaRef ds:uri="7313f609-82c0-4c11-91b9-f1599af905d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7864</TotalTime>
  <Words>951</Words>
  <Application>Microsoft Office PowerPoint</Application>
  <PresentationFormat>Widescreen</PresentationFormat>
  <Paragraphs>150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PowerPoint Presentation</vt:lpstr>
      <vt:lpstr>PowerPoint Presentation</vt:lpstr>
      <vt:lpstr>About your team and reporting Manager</vt:lpstr>
      <vt:lpstr>Challenges Faced in Internship</vt:lpstr>
      <vt:lpstr>Objectives of the work</vt:lpstr>
      <vt:lpstr>Proposed System / Work</vt:lpstr>
      <vt:lpstr>Problem Statement</vt:lpstr>
      <vt:lpstr>System Requirements</vt:lpstr>
      <vt:lpstr>PowerPoint Presentation</vt:lpstr>
      <vt:lpstr>Advantages of Proposed System/Work</vt:lpstr>
      <vt:lpstr>PowerPoint Presentation</vt:lpstr>
      <vt:lpstr>PowerPoint Presentation</vt:lpstr>
      <vt:lpstr>PowerPoint Presentation</vt:lpstr>
      <vt:lpstr>System Testing</vt:lpstr>
      <vt:lpstr>System Testing</vt:lpstr>
      <vt:lpstr>System Testing</vt:lpstr>
      <vt:lpstr>Conclusion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Muskan .</cp:lastModifiedBy>
  <cp:revision>724</cp:revision>
  <dcterms:created xsi:type="dcterms:W3CDTF">2022-10-14T07:18:17Z</dcterms:created>
  <dcterms:modified xsi:type="dcterms:W3CDTF">2026-04-05T16:06:03Z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0x010100A5F7FDB646AF7E4A9AF564A66AA93CEA</vt:lpwstr>
  </property>
</Properties>
</file>